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להסביר שהפרויקט בוחן שתי גישות להסרת ערפל מתמונה בודדת ומשווה איכות מול מהירות.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להדגיש שהבעיה קשה יותר כאשר יש רק תמונה אחת ואין רצף וידאו או עומק.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להציג את שלוש שאלות המחקר. אלו הן עמוד השדרה של הדו״ח והמצגת.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להסביר בקצרה את ההבדל: AOD-Net פשוט ומהיר, FFA-Net מתקדם ואיכותי 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להסביר את Pipeline: קלט -&gt; שני מודלים -&gt; פלט -&gt; מדדים -&gt; גרפים.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להסביר למה השתמשנו בשני סוגי ניסויים: השוואה כללית וגם בדיקת עמידות.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להצביע על ההבדלים בין שלוש התמונות: קלט מעורפל, AOD-Net, FFA-Net.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להסביר ש-PSNR ו-SSIM גבוהים יותר מייצגים קרבה גבוהה יותר לתמונת האמת.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לציין שהמדידה בוצעה על CPU וכוללת טעינת תהליך ומודל, לא רק forward טהור.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להדגיש את החלק המחקרי החדש: בדיקת עמידות לרמות ערפל ולא רק ממוצע כללי.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להראות מודעות למגבלות ולא לטעון שהתוצאות מחליפות הערכה מלאה על כל הדאטה.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 קצר וברור. ניתן לסיים בכך שהקוד, הדו״ח וה-README מוכנים להגשה.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שקופית גיבוי למקורות, לא חובה להציג אם אין זמן.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39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הסרת ערפל מתמונה בודדת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155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מחקרית בין AOD-Net לבין FFA-Net</a:t>
            </a:r>
            <a:endParaRPr lang="en-US" sz="2200" dirty="0"/>
          </a:p>
        </p:txBody>
      </p:sp>
      <p:pic>
        <p:nvPicPr>
          <p:cNvPr id="4" name="Image 0" descr="/mnt/data/docx_extract/word/media/image1.png">    </p:cNvPr>
          <p:cNvPicPr>
            <a:picLocks noChangeAspect="1"/>
          </p:cNvPicPr>
          <p:nvPr/>
        </p:nvPicPr>
        <p:blipFill>
          <a:blip r:embed="rId1"/>
          <a:srcRect l="0" r="0" t="5715" b="5715"/>
          <a:stretch/>
        </p:blipFill>
        <p:spPr>
          <a:xfrm>
            <a:off x="1188720" y="2514600"/>
            <a:ext cx="978408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322732140 | מרצה: אורי בריט | 11.07.2026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הבעיה: ערפל פוגע במידע החזותי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בתמונה מעורפלת יש ירידה בניגודיות, עיוות צבעים ואובדן פרטים.</a:t>
            </a:r>
            <a:endParaRPr lang="en-US" sz="1350" dirty="0"/>
          </a:p>
        </p:txBody>
      </p:sp>
      <p:pic>
        <p:nvPicPr>
          <p:cNvPr id="5" name="Image 0" descr="/mnt/data/hazy_panel.png">    </p:cNvPr>
          <p:cNvPicPr>
            <a:picLocks noChangeAspect="1"/>
          </p:cNvPicPr>
          <p:nvPr/>
        </p:nvPicPr>
        <p:blipFill>
          <a:blip r:embed="rId1"/>
          <a:srcRect l="2887" r="2887" t="0" b="0"/>
          <a:stretch/>
        </p:blipFill>
        <p:spPr>
          <a:xfrm>
            <a:off x="685800" y="1417320"/>
            <a:ext cx="498348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4406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מעורפל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89320" y="1554480"/>
            <a:ext cx="539496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קשה לזהות גבולות, טקסטורות ועומק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משפיע גם על צפייה אנושית וגם על מערכות ראייה ממוחשבת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האתגר: להסיר ערפל מתמונה אחת בלבד ללא מידע עומק נוסף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1792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217920" y="4544568"/>
            <a:ext cx="1371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תמונה אחת כקלט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0100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001000" y="4544568"/>
            <a:ext cx="1371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מודלים להשוואה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784080" y="3977640"/>
            <a:ext cx="1554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784080" y="45445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מדדים: PSNR, SSIM, זמן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המחקר והמטרה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 היא להשוות איכות שחזור מול עלות חישובית.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המחקר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217920" y="1965960"/>
            <a:ext cx="53035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איזה מודל קרוב יותר לתמונת Ground Truth?</a:t>
            </a:r>
            <a:endParaRPr lang="en-US" sz="1900" dirty="0"/>
          </a:p>
          <a:p>
            <a:pPr rtl="1" algn="r" indent="0" marL="0">
              <a:buNone/>
            </a:pPr>
            <a:r>
              <a:rPr lang="en-US" sz="19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 המחיר החישובי של שיפור האיכות?</a:t>
            </a:r>
            <a:endParaRPr lang="en-US" sz="1900" dirty="0"/>
          </a:p>
          <a:p>
            <a:pPr rtl="1" algn="r" indent="0" marL="0">
              <a:buNone/>
            </a:pPr>
            <a:r>
              <a:rPr lang="en-US" sz="19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מי יציב יותר כאשר עוצמת הערפל משתנה?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תוצרי הפרויקט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8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הרצת שני מימושים קיימים עם משקולות מאומנות מראש</a:t>
            </a:r>
            <a:endParaRPr lang="en-US" sz="1850" dirty="0"/>
          </a:p>
          <a:p>
            <a:pPr rtl="1" algn="r" indent="0" marL="0">
              <a:buNone/>
            </a:pPr>
            <a:r>
              <a:rPr lang="en-US" sz="18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השוואות חזותיות וגרפים</a:t>
            </a:r>
            <a:endParaRPr lang="en-US" sz="1850" dirty="0"/>
          </a:p>
          <a:p>
            <a:pPr rtl="1" algn="r" indent="0" marL="0">
              <a:buNone/>
            </a:pPr>
            <a:r>
              <a:rPr lang="en-US" sz="18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ניסוי מחקרי חדש: חמש רמות ערפל לאותה סצנה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989320" y="1325880"/>
            <a:ext cx="0" cy="397764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9160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מעשית: לבחור מודל לפי איכות, זמן ריצה ומשאבי חומרה.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המודלים שנבדקו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 מייצג רשת קלה; FFA-Net מייצג רשת עמוקה עם מנגנוני קשב.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0" y="1965960"/>
            <a:ext cx="512064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רשת קצה-לקצה קומפקטית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מבוססת על ניסוח מחדש של מודל הפיזור האטמוספרי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יתרון: מהירה ופשוטה יותר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חיסרון: איכות שחזור נמוכה יותר במדגם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FFA-Net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512064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מבוססת על Feature Fusion Attention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משלבת Channel Attention ו-Pixel Attention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יתרון: משמרת פרטים וצבעים טוב יותר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חיסרון: זמן ריצה גבוה יותר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ההשוואה בוחנת את הפשרה: מהירות מול איכות.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המימוש וההערכה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אורגן כך שכל מודל רץ על אותן תמונות ונמדד באותו פרוטוקול.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95728" y="3703320"/>
            <a:ext cx="731520" cy="201168"/>
          </a:xfrm>
          <a:prstGeom prst="rightArrow">
            <a:avLst/>
          </a:prstGeom>
          <a:solidFill>
            <a:srgbClr val="C6D2DC">
              <a:alpha val="65000"/>
            </a:srgbClr>
          </a:solidFill>
          <a:ln w="12700">
            <a:solidFill>
              <a:srgbClr val="C6D2D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61688" y="3703320"/>
            <a:ext cx="731520" cy="201168"/>
          </a:xfrm>
          <a:prstGeom prst="rightArrow">
            <a:avLst/>
          </a:prstGeom>
          <a:solidFill>
            <a:srgbClr val="C6D2DC">
              <a:alpha val="65000"/>
            </a:srgbClr>
          </a:solidFill>
          <a:ln w="12700">
            <a:solidFill>
              <a:srgbClr val="C6D2D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27648" y="3703320"/>
            <a:ext cx="731520" cy="201168"/>
          </a:xfrm>
          <a:prstGeom prst="rightArrow">
            <a:avLst/>
          </a:prstGeom>
          <a:solidFill>
            <a:srgbClr val="C6D2DC">
              <a:alpha val="65000"/>
            </a:srgbClr>
          </a:solidFill>
          <a:ln w="12700">
            <a:solidFill>
              <a:srgbClr val="C6D2D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93608" y="3703320"/>
            <a:ext cx="731520" cy="201168"/>
          </a:xfrm>
          <a:prstGeom prst="rightArrow">
            <a:avLst/>
          </a:prstGeom>
          <a:solidFill>
            <a:srgbClr val="C6D2DC">
              <a:alpha val="65000"/>
            </a:srgbClr>
          </a:solidFill>
          <a:ln w="12700">
            <a:solidFill>
              <a:srgbClr val="C6D2D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15544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SOTS/RESIDE</a:t>
            </a:r>
            <a:endParaRPr lang="en-US" sz="1600" dirty="0"/>
          </a:p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2542032"/>
            <a:ext cx="15544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</a:t>
            </a:r>
            <a:endParaRPr lang="en-US" sz="1600" dirty="0"/>
          </a:p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FFA-Net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542032"/>
            <a:ext cx="15544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</a:t>
            </a:r>
            <a:endParaRPr lang="en-US" sz="1600" dirty="0"/>
          </a:p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משוחזרות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542032"/>
            <a:ext cx="15544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PSNR</a:t>
            </a:r>
            <a:endParaRPr lang="en-US" sz="1600" dirty="0"/>
          </a:p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2542032"/>
            <a:ext cx="15544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</a:t>
            </a:r>
            <a:endParaRPr lang="en-US" sz="1600" dirty="0"/>
          </a:p>
          <a:p>
            <a:pPr rtl="1" algn="ctr" indent="0" marL="0">
              <a:buNone/>
            </a:pPr>
            <a:r>
              <a:rPr lang="en-US" sz="16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709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 הפלט נשמרו בשם תואם ל-Ground Truth כדי למנוע חישוב שגוי.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מערך הניסוי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ניסוי מרכזי על חמש סצנות Indoor שונות וניסוי מחקרי על חמש רמות ערפל.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ניסוי מרכזי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0" y="1920240"/>
            <a:ext cx="502920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סצנות Indoor שונות מתוך SOTS/RESIDE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לכל תמונה: קלט מעורפל ו-Ground Truth נקי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מדדים: PSNR, SSIM וזמן ריצה ממוצע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ניסוי מחקרי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502920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אותה סצנה 1442 עם חמש רמות ערפל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מטרה: לבדוק יציבות המודלים כשעוצמת הערפל משתנה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תוצרים: haze_severity_results.csv ושני גרפים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 ניסוי: 1442_1 עד 1442_5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חזותית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FFA-Net מפיק תמונה חדה וכהה יותר, בעוד AOD-Net נוטה להשאיר פלט בהיר ודהוי.</a:t>
            </a:r>
            <a:endParaRPr lang="en-US" sz="1350" dirty="0"/>
          </a:p>
        </p:txBody>
      </p:sp>
      <p:pic>
        <p:nvPicPr>
          <p:cNvPr id="5" name="Image 0" descr="/mnt/data/hazy_panel.png">    </p:cNvPr>
          <p:cNvPicPr>
            <a:picLocks noChangeAspect="1"/>
          </p:cNvPicPr>
          <p:nvPr/>
        </p:nvPicPr>
        <p:blipFill>
          <a:blip r:embed="rId1"/>
          <a:srcRect l="3978" r="3978" t="0" b="0"/>
          <a:stretch/>
        </p:blipFill>
        <p:spPr>
          <a:xfrm>
            <a:off x="594360" y="1417320"/>
            <a:ext cx="3566160" cy="2880360"/>
          </a:xfrm>
          <a:prstGeom prst="rect">
            <a:avLst/>
          </a:prstGeom>
        </p:spPr>
      </p:pic>
      <p:pic>
        <p:nvPicPr>
          <p:cNvPr id="6" name="Image 1" descr="/mnt/data/aod_panel.png">    </p:cNvPr>
          <p:cNvPicPr>
            <a:picLocks noChangeAspect="1"/>
          </p:cNvPicPr>
          <p:nvPr/>
        </p:nvPicPr>
        <p:blipFill>
          <a:blip r:embed="rId2"/>
          <a:srcRect l="3508" r="3508" t="0" b="0"/>
          <a:stretch/>
        </p:blipFill>
        <p:spPr>
          <a:xfrm>
            <a:off x="4315968" y="1417320"/>
            <a:ext cx="3566160" cy="2880360"/>
          </a:xfrm>
          <a:prstGeom prst="rect">
            <a:avLst/>
          </a:prstGeom>
        </p:spPr>
      </p:pic>
      <p:pic>
        <p:nvPicPr>
          <p:cNvPr id="7" name="Image 2" descr="/mnt/data/ffa_panel.png">    </p:cNvPr>
          <p:cNvPicPr>
            <a:picLocks noChangeAspect="1"/>
          </p:cNvPicPr>
          <p:nvPr/>
        </p:nvPicPr>
        <p:blipFill>
          <a:blip r:embed="rId3"/>
          <a:srcRect l="3791" r="3791" t="0" b="0"/>
          <a:stretch/>
        </p:blipFill>
        <p:spPr>
          <a:xfrm>
            <a:off x="8046720" y="1417320"/>
            <a:ext cx="3566160" cy="2880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36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מעורפל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315968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04672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FFA-Net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1440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 חזותי: FFA-Net שומרת טוב יותר על ניגודיות, צבעים ופרטים.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איכות: PSNR ו-SSIM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בשני מדדי האיכות FFA-Net מובילה בפער גדול.</a:t>
            </a:r>
            <a:endParaRPr lang="en-US" sz="1350" dirty="0"/>
          </a:p>
        </p:txBody>
      </p:sp>
      <p:pic>
        <p:nvPicPr>
          <p:cNvPr id="5" name="Image 0" descr="/mnt/data/docx_extract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02090"/>
            <a:ext cx="5349240" cy="3362379"/>
          </a:xfrm>
          <a:prstGeom prst="rect">
            <a:avLst/>
          </a:prstGeom>
        </p:spPr>
      </p:pic>
      <p:pic>
        <p:nvPicPr>
          <p:cNvPr id="6" name="Image 1" descr="/mnt/data/docx_extract/word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02090"/>
            <a:ext cx="5349240" cy="33623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על 5 סצנות Indoor: PSNR 38.13 dB ו-SSIM 0.9926 ל-FFA-Net.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ריצה: מחיר האיכות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 מהירה יותר, FFA-Net איכותית יותר אך איטית יותר.</a:t>
            </a:r>
            <a:endParaRPr lang="en-US" sz="1350" dirty="0"/>
          </a:p>
        </p:txBody>
      </p:sp>
      <p:pic>
        <p:nvPicPr>
          <p:cNvPr id="5" name="Image 0" descr="/mnt/data/docx_extract/word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30106"/>
            <a:ext cx="5669280" cy="35635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600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2.9938s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0" y="2624328"/>
            <a:ext cx="3474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ריצה ממוצע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03720" y="3337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FFA-Net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0" y="3794760"/>
            <a:ext cx="3474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14.5741s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15200" y="4361688"/>
            <a:ext cx="3474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ריצה ממוצע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0" y="5349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 מהירה בערך פי 4.87 במדידת התהליך הכוללת.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משימת המחקר: השפעת עוצמת הערפל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סצנה נבדקה בחמש רמות ערפל שונות.</a:t>
            </a:r>
            <a:endParaRPr lang="en-US" sz="1350" dirty="0"/>
          </a:p>
        </p:txBody>
      </p:sp>
      <p:pic>
        <p:nvPicPr>
          <p:cNvPr id="5" name="Image 0" descr="/mnt/data/docx_extract/word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1388"/>
            <a:ext cx="5349240" cy="3209544"/>
          </a:xfrm>
          <a:prstGeom prst="rect">
            <a:avLst/>
          </a:prstGeom>
        </p:spPr>
      </p:pic>
      <p:pic>
        <p:nvPicPr>
          <p:cNvPr id="6" name="Image 1" descr="/mnt/data/docx_extract/word/media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1388"/>
            <a:ext cx="5349240" cy="32095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המסקנה: FFA-Net יציבה יותר כאשר הערפל מתחזק.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קשיים, מגבלות ושיפורים עתידיים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חשוב בהצגה: מה עבד, מה הגביל את הניסוי, ומה ניתן להמשיך.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קשיים במימוש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06640" y="1874520"/>
            <a:ext cx="402336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משקולות PyTorch ישנות</a:t>
            </a:r>
            <a:endParaRPr lang="en-US" sz="1650" dirty="0"/>
          </a:p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התאמות לגרסאות חדשות</a:t>
            </a:r>
            <a:endParaRPr lang="en-US" sz="1650" dirty="0"/>
          </a:p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חלונות Matplotlib במדידת FFA-Net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מגבלות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69080" y="1874520"/>
            <a:ext cx="306324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רק 5 תמונות בניסוי המרכזי</a:t>
            </a:r>
            <a:endParaRPr lang="en-US" sz="1650" dirty="0"/>
          </a:p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הרצה על CPU בלבד</a:t>
            </a:r>
            <a:endParaRPr lang="en-US" sz="1650" dirty="0"/>
          </a:p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נתונים סינתטיים Indoor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שיפורים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06324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להריץ על SOTS מלא</a:t>
            </a:r>
            <a:endParaRPr lang="en-US" sz="1650" dirty="0"/>
          </a:p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למדוד forward בלבד</a:t>
            </a:r>
            <a:endParaRPr lang="en-US" sz="1650" dirty="0"/>
          </a:p>
          <a:p>
            <a:pPr rtl="1" algn="r" indent="0" marL="0">
              <a:buNone/>
            </a:pPr>
            <a:r>
              <a:rPr lang="en-US" sz="165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להוסיף LPIPS והערכה אנושית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10652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900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רעיונות המשך: בדיקה על Outdoor, Fine-tuning ל-AOD-Net, והשפעת הסרת הערפל על זיהוי עצמים.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מראה פשרה ברורה בין מהירות לבין איכות שחזור.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0" y="1463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FFA-Net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0" y="2057400"/>
            <a:ext cx="50292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איכות שחזור גבוהה בהרבה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PSNR ו-SSIM גבוהים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יציבות טובה מול רמות ערפל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AOD-Net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0292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רשת קלה ומהירה יותר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מתאימה כשמשאבי חישוב מוגבלים</a:t>
            </a:r>
            <a:endParaRPr lang="en-US" sz="1800" dirty="0"/>
          </a:p>
          <a:p>
            <a:pPr rtl="1" algn="r" indent="0" marL="0">
              <a:buNone/>
            </a:pPr>
            <a:r>
              <a:rPr lang="en-US" sz="18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איכות נמוכה יותר במדגם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מסקנה סופית: כאשר איכות התמונה היא העיקר — FFA-Net עדיפה; כאשר המהירות היא העיקר — AOD-Net יכולה להיות בחירה מעשית.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155680" cy="0"/>
          </a:xfrm>
          <a:prstGeom prst="line">
            <a:avLst/>
          </a:prstGeom>
          <a:noFill/>
          <a:ln w="19050">
            <a:solidFill>
              <a:srgbClr val="C6D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1155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המאמרים והמימושים שעליהם מבוסס הפרויקט.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6070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Li et al., “AOD-Net: All-in-One Dehazing Network,” ICCV, 2017.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Qin et al., “FFA-Net: Feature Fusion Attention Network for Single Image Dehazing,” AAAI, 2020.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Li et al., “Benchmarking Single Image Dehazing and Beyond,” IEEE TIP, 2019.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Wang et al., “Image Quality Assessment: From Error Visibility to Structural Similarity,” IEEE TIP, 2004.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GitHub implementations: AOD-Net-PyTorch, zhilin007/FFA-Net.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הפרויקט: https://github.com/halasb307-web/cvproj_322732140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חלא סבע | ראייה ממוחשבת | 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Computer Vision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Image Dehazing: AOD-Net vs. FFA-Net</dc:title>
  <dc:subject>Computer Vision Project</dc:subject>
  <dc:creator>Hala Sbea</dc:creator>
  <cp:lastModifiedBy>Hala Sbea</cp:lastModifiedBy>
  <cp:revision>1</cp:revision>
  <dcterms:created xsi:type="dcterms:W3CDTF">2026-07-11T08:25:32Z</dcterms:created>
  <dcterms:modified xsi:type="dcterms:W3CDTF">2026-07-11T08:25:32Z</dcterms:modified>
</cp:coreProperties>
</file>